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74cf5ff181423f" /><Relationship Type="http://schemas.openxmlformats.org/officeDocument/2006/relationships/extended-properties" Target="/docProps/app.xml" Id="R7809de603650492f" /><Relationship Type="http://schemas.openxmlformats.org/officeDocument/2006/relationships/officeDocument" Target="/ppt/presentation.xml" Id="R5fab507a5c2242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71b6ee7834618"/>
  </p:sldMasterIdLst>
  <p:notesMasterIdLst>
    <p:notesMasterId xmlns:r="http://schemas.openxmlformats.org/officeDocument/2006/relationships" r:id="Re9fb0e6e9f3a4eb0"/>
  </p:notesMasterIdLst>
  <p:sldIdLst>
    <p:sldId xmlns:r="http://schemas.openxmlformats.org/officeDocument/2006/relationships" id="256" r:id="Rd3359873d67345c9"/>
    <p:sldId xmlns:r="http://schemas.openxmlformats.org/officeDocument/2006/relationships" id="257" r:id="R78757f9521ab4f23"/>
    <p:sldId xmlns:r="http://schemas.openxmlformats.org/officeDocument/2006/relationships" id="258" r:id="R9e630783bfe840d9"/>
    <p:sldId xmlns:r="http://schemas.openxmlformats.org/officeDocument/2006/relationships" id="259" r:id="Rcc6d217a6d474f4a"/>
    <p:sldId xmlns:r="http://schemas.openxmlformats.org/officeDocument/2006/relationships" id="260" r:id="R7e2b98aa82b34d18"/>
    <p:sldId xmlns:r="http://schemas.openxmlformats.org/officeDocument/2006/relationships" id="261" r:id="Rca940a2fd2ee459e"/>
    <p:sldId xmlns:r="http://schemas.openxmlformats.org/officeDocument/2006/relationships" id="262" r:id="R2aa4d47981f94050"/>
    <p:sldId xmlns:r="http://schemas.openxmlformats.org/officeDocument/2006/relationships" id="263" r:id="Re808ee8b785142db"/>
    <p:sldId xmlns:r="http://schemas.openxmlformats.org/officeDocument/2006/relationships" id="264" r:id="Rf816b3e046b543dc"/>
    <p:sldId xmlns:r="http://schemas.openxmlformats.org/officeDocument/2006/relationships" id="265" r:id="R06bf42df47b64255"/>
    <p:sldId xmlns:r="http://schemas.openxmlformats.org/officeDocument/2006/relationships" id="266" r:id="R47884b9a465c4ad9"/>
    <p:sldId xmlns:r="http://schemas.openxmlformats.org/officeDocument/2006/relationships" id="267" r:id="Rcde9433c39ed4cf7"/>
    <p:sldId xmlns:r="http://schemas.openxmlformats.org/officeDocument/2006/relationships" id="268" r:id="Rf1b7e7a4a5054ea7"/>
    <p:sldId xmlns:r="http://schemas.openxmlformats.org/officeDocument/2006/relationships" id="269" r:id="R67589fa113ad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b304a69024781" /><Relationship Type="http://schemas.openxmlformats.org/officeDocument/2006/relationships/slideMaster" Target="/ppt/slideMasters/slideMaster1.xml" Id="R80171b6ee7834618" /><Relationship Type="http://schemas.openxmlformats.org/officeDocument/2006/relationships/notesMaster" Target="/ppt/notesMasters/notesMaster1.xml" Id="Re9fb0e6e9f3a4eb0" /><Relationship Type="http://schemas.openxmlformats.org/officeDocument/2006/relationships/presProps" Target="/ppt/presProps.xml" Id="R1acf2ff26d754025" /><Relationship Type="http://schemas.openxmlformats.org/officeDocument/2006/relationships/tableStyles" Target="/ppt/tableStyles.xml" Id="R2ec9bcdc44f2488a" /><Relationship Type="http://schemas.openxmlformats.org/officeDocument/2006/relationships/slide" Target="/ppt/slides/slide1.xml" Id="Rd3359873d67345c9" /><Relationship Type="http://schemas.openxmlformats.org/officeDocument/2006/relationships/slide" Target="/ppt/slides/slide2.xml" Id="R78757f9521ab4f23" /><Relationship Type="http://schemas.openxmlformats.org/officeDocument/2006/relationships/slide" Target="/ppt/slides/slide3.xml" Id="R9e630783bfe840d9" /><Relationship Type="http://schemas.openxmlformats.org/officeDocument/2006/relationships/slide" Target="/ppt/slides/slide4.xml" Id="Rcc6d217a6d474f4a" /><Relationship Type="http://schemas.openxmlformats.org/officeDocument/2006/relationships/slide" Target="/ppt/slides/slide5.xml" Id="R7e2b98aa82b34d18" /><Relationship Type="http://schemas.openxmlformats.org/officeDocument/2006/relationships/slide" Target="/ppt/slides/slide6.xml" Id="Rca940a2fd2ee459e" /><Relationship Type="http://schemas.openxmlformats.org/officeDocument/2006/relationships/slide" Target="/ppt/slides/slide7.xml" Id="R2aa4d47981f94050" /><Relationship Type="http://schemas.openxmlformats.org/officeDocument/2006/relationships/slide" Target="/ppt/slides/slide8.xml" Id="Re808ee8b785142db" /><Relationship Type="http://schemas.openxmlformats.org/officeDocument/2006/relationships/slide" Target="/ppt/slides/slide9.xml" Id="Rf816b3e046b543dc" /><Relationship Type="http://schemas.openxmlformats.org/officeDocument/2006/relationships/slide" Target="/ppt/slides/slide10.xml" Id="R06bf42df47b64255" /><Relationship Type="http://schemas.openxmlformats.org/officeDocument/2006/relationships/slide" Target="/ppt/slides/slide11.xml" Id="R47884b9a465c4ad9" /><Relationship Type="http://schemas.openxmlformats.org/officeDocument/2006/relationships/slide" Target="/ppt/slides/slide12.xml" Id="Rcde9433c39ed4cf7" /><Relationship Type="http://schemas.openxmlformats.org/officeDocument/2006/relationships/slide" Target="/ppt/slides/slide13.xml" Id="Rf1b7e7a4a5054ea7" /><Relationship Type="http://schemas.openxmlformats.org/officeDocument/2006/relationships/slide" Target="/ppt/slides/slide14.xml" Id="R67589fa113ad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a651ddb0ad4d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13e64cfbe42ab" /><Relationship Type="http://schemas.openxmlformats.org/officeDocument/2006/relationships/notesMaster" Target="/ppt/notesMasters/notesMaster1.xml" Id="R5394adc397ce4a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332a13e3864343" /><Relationship Type="http://schemas.openxmlformats.org/officeDocument/2006/relationships/notesMaster" Target="/ppt/notesMasters/notesMaster1.xml" Id="Rad0df223f2404f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cf0b4c98394ade" /><Relationship Type="http://schemas.openxmlformats.org/officeDocument/2006/relationships/notesMaster" Target="/ppt/notesMasters/notesMaster1.xml" Id="Ra5a79dbb3ca443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f1c5615834c50" /><Relationship Type="http://schemas.openxmlformats.org/officeDocument/2006/relationships/notesMaster" Target="/ppt/notesMasters/notesMaster1.xml" Id="R9c2fdd1c0fa6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45b42798942a4" /><Relationship Type="http://schemas.openxmlformats.org/officeDocument/2006/relationships/notesMaster" Target="/ppt/notesMasters/notesMaster1.xml" Id="R98c027886d00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0ca7c9d2444333" /><Relationship Type="http://schemas.openxmlformats.org/officeDocument/2006/relationships/notesMaster" Target="/ppt/notesMasters/notesMaster1.xml" Id="Rf89d3a5b20aa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1e67f4c2c94201" /><Relationship Type="http://schemas.openxmlformats.org/officeDocument/2006/relationships/notesMaster" Target="/ppt/notesMasters/notesMaster1.xml" Id="Rb97051212e6f48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33a67a1f3d4aab" /><Relationship Type="http://schemas.openxmlformats.org/officeDocument/2006/relationships/notesMaster" Target="/ppt/notesMasters/notesMaster1.xml" Id="R0ed357c9bc9742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edfe2b995e4547" /><Relationship Type="http://schemas.openxmlformats.org/officeDocument/2006/relationships/notesMaster" Target="/ppt/notesMasters/notesMaster1.xml" Id="R115fc396d74a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683c87bbaf450e" /><Relationship Type="http://schemas.openxmlformats.org/officeDocument/2006/relationships/notesMaster" Target="/ppt/notesMasters/notesMaster1.xml" Id="Rd288fd458f5c42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e877d7b4b6400f" /><Relationship Type="http://schemas.openxmlformats.org/officeDocument/2006/relationships/notesMaster" Target="/ppt/notesMasters/notesMaster1.xml" Id="R6dac8f0b62704c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0f15b58e3e4d53" /><Relationship Type="http://schemas.openxmlformats.org/officeDocument/2006/relationships/notesMaster" Target="/ppt/notesMasters/notesMaster1.xml" Id="R2adad8ad83b744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2b97a4ba77403b" /><Relationship Type="http://schemas.openxmlformats.org/officeDocument/2006/relationships/notesMaster" Target="/ppt/notesMasters/notesMaster1.xml" Id="R52e48a25d7ec40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a9e28311cb45bc" /><Relationship Type="http://schemas.openxmlformats.org/officeDocument/2006/relationships/notesMaster" Target="/ppt/notesMasters/notesMaster1.xml" Id="R14448de5e44b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时间：0:00–0:15（15 秒）</a:t>
            </a:r>
          </a:p>
          <a:p xmlns:a="http://schemas.openxmlformats.org/drawingml/2006/main">
            <a:r>
              <a:t>讲稿：大家好，我们是 Team Falcons。Ask the Company 让普通用户直接向上市公司提问，并让每一个结论都能回到公告原文。</a:t>
            </a:r>
          </a:p>
          <a:p xmlns:a="http://schemas.openxmlformats.org/drawingml/2006/main">
            <a:r>
              <a:t>口径：产品只做公开披露文件的事实检索与呈现，不构成投资建议。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时间：0:15–0:50（35 秒）</a:t>
            </a:r>
          </a:p>
          <a:p xmlns:a="http://schemas.openxmlformats.org/drawingml/2006/main">
            <a:r>
              <a:t>讲稿：公开披露不等于容易使用。我们的稳定 Demo 中，一份招股书 506 页，一份半年报 269 页。更麻烦的是同一公司同一段披露在不同版本里页码并非固定偏移。用户真正需要的是同时回答：数字在哪里、属于哪个版本、能不能回到原文。</a:t>
            </a:r>
          </a:p>
          <a:p xmlns:a="http://schemas.openxmlformats.org/drawingml/2006/main">
            <a:r>
              <a:t>项目来源：docs/HANDOFF.md 第 3、4.1 节。</a:t>
            </a:r>
          </a:p>
          <a:p xmlns:a="http://schemas.openxmlformats.org/drawingml/2006/main">
            <a:r>
              <a:t>政策背景：证监会第 226 号令《上市公司信息披露管理办法》，2025-07-01 施行。</a:t>
            </a:r>
          </a:p>
          <a:p xmlns:a="http://schemas.openxmlformats.org/drawingml/2006/main">
            <a:r>
              <a:t>URL：https://www.csrc.gov.cn/csrc/c101953/c7547359/content.shtml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时间：0:50–1:15（25 秒）</a:t>
            </a:r>
          </a:p>
          <a:p xmlns:a="http://schemas.openxmlformats.org/drawingml/2006/main">
            <a:r>
              <a:t>讲稿：公告网站、金融终端、通用模型、文档校对和开源项目都解决了局部问题。我们不宣称没有竞品，也不宣称首创可溯源。我们的产品重点是让每条回答可以沿着 Claim、Evidence 和 PDF 页码完整回溯。</a:t>
            </a:r>
          </a:p>
          <a:p xmlns:a="http://schemas.openxmlformats.org/drawingml/2006/main">
            <a:r>
              <a:t>竞品边界参考：FACT_BASE.md 第 6、11 节。</a:t>
            </a:r>
          </a:p>
          <a:p xmlns:a="http://schemas.openxmlformats.org/drawingml/2006/main">
            <a:r>
              <a:t>WPS 黑马校对仅用于证明招股书校对产品存在，不引用其页面效果数字。</a:t>
            </a:r>
          </a:p>
          <a:p xmlns:a="http://schemas.openxmlformats.org/drawingml/2006/main">
            <a:r>
              <a:t>URL：https://365.wps.cn/content/1948fd9561b4478393707b74101a5d53.html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时间：1:15–1:50（35 秒）</a:t>
            </a:r>
          </a:p>
          <a:p xmlns:a="http://schemas.openxmlformats.org/drawingml/2006/main">
            <a:r>
              <a:t>讲稿：用户先指定公司和问题。系统只检索当前公司的 Evidence，模型只能在候选集合中选择 ID。模型输出之后，后端再检查公司归属、引用、原文和数字。只有通过校验的内容才进入 Answer、Claim、Signal 和 Chart。没有证据时，系统固定拒答。</a:t>
            </a:r>
          </a:p>
          <a:p xmlns:a="http://schemas.openxmlformats.org/drawingml/2006/main">
            <a:r>
              <a:t>项目来源：AGENTS.md；docs/HANDOFF.md 第 1、2、5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时间：1:50–2:20（30 秒）</a:t>
            </a:r>
          </a:p>
          <a:p xmlns:a="http://schemas.openxmlformats.org/drawingml/2006/main">
            <a:r>
              <a:t>讲稿：壁垒不在模型本身，而在证据契约。公司隔离、页码定位、连续原文、主张自证、确定性图表都可以由程序检查。右边是实际遇到的版本陷阱：同一段披露在注册稿和上市稿里分别出现在 322 与 329 页；另一段是 324 与 332 页，偏移并非固定常数。</a:t>
            </a:r>
          </a:p>
          <a:p xmlns:a="http://schemas.openxmlformats.org/drawingml/2006/main">
            <a:r>
              <a:t>项目来源：AGENTS.md；docs/HANDOFF.md 第 4.1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时间：2:20–3:45（85 秒）</a:t>
            </a:r>
          </a:p>
          <a:p xmlns:a="http://schemas.openxmlformats.org/drawingml/2006/main">
            <a:r>
              <a:t>讲稿与操作：</a:t>
            </a:r>
          </a:p>
          <a:p xmlns:a="http://schemas.openxmlformats.org/drawingml/2006/main">
            <a:r>
              <a:t>1. 选择思看科技，点击“你的收入结构发生了什么变化？”</a:t>
            </a:r>
          </a:p>
          <a:p xmlns:a="http://schemas.openxmlformats.org/drawingml/2006/main">
            <a:r>
              <a:t>2. 指出 X-Ray Signal、结构化 Answer、每条 Claim 的 Evidence ID，以及证据驱动图表。</a:t>
            </a:r>
          </a:p>
          <a:p xmlns:a="http://schemas.openxmlformats.org/drawingml/2006/main">
            <a:r>
              <a:t>3. 点击 EV-STR-001，展示 Evidence 抽屉中的报告期、官方来源、PDF 第 322 页和连续原文。</a:t>
            </a:r>
          </a:p>
          <a:p xmlns:a="http://schemas.openxmlformats.org/drawingml/2006/main">
            <a:r>
              <a:t>4. 如时间允许，切换恒生电子，提问“审计意见、审计机构和关键审计事项是什么？”展示动态链路。</a:t>
            </a:r>
          </a:p>
          <a:p xmlns:a="http://schemas.openxmlformats.org/drawingml/2006/main">
            <a:r>
              <a:t>5. 最后问“你的员工喜欢吃水果吗？”展示安全拒答。</a:t>
            </a:r>
          </a:p>
          <a:p xmlns:a="http://schemas.openxmlformats.org/drawingml/2006/main">
            <a:r>
              <a:t>截图来源：2026-10-03 本地真实产品页面。没有伪造 UI。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时间：3:45–4:20（35 秒）</a:t>
            </a:r>
          </a:p>
          <a:p xmlns:a="http://schemas.openxmlformats.org/drawingml/2006/main">
            <a:r>
              <a:t>讲稿：当前稳定库包含 2254 条 Evidence，其中 2158 条可参与回答，96 条被主动隔离。数据库覆盖 4 家公司、1905 篇公告和 2845 个按页文本块。验证结果包括数据库回归 70 项、后端合成 217 项、真实库 101 项通过且 1 项按设计跳过、契约检查 25 项通过。它们证明工程覆盖和证据质量，不是回答正确率。</a:t>
            </a:r>
          </a:p>
          <a:p xmlns:a="http://schemas.openxmlformats.org/drawingml/2006/main">
            <a:r>
              <a:t>项目来源：docs/HANDOFF.md 第 2、7.3、7.4 节；docs/INVESTOR_EVIDENCE_EXPANSION.md 第 3、6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时间：4:20–4:45（25 秒）</a:t>
            </a:r>
          </a:p>
          <a:p xmlns:a="http://schemas.openxmlformats.org/drawingml/2006/main">
            <a:r>
              <a:t>讲稿：我们把商业化优先级放在 B2B。第一类是 IPO 尽调和招股书核验，第二类是机构研究的公告核验，第三类是投关问答和合规审阅。对应的收费方式可以是按项目订阅、私有化部署和 API。这里都是下一阶段假设，我们没有收入、客户或签约数据。</a:t>
            </a:r>
          </a:p>
          <a:p xmlns:a="http://schemas.openxmlformats.org/drawingml/2006/main">
            <a:r>
              <a:t>项目来源：FACT_BASE.md 第 9 节。所有商业模式均标记为假设。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时间：4:45–4:55（10 秒）</a:t>
            </a:r>
          </a:p>
          <a:p xmlns:a="http://schemas.openxmlformats.org/drawingml/2006/main">
            <a:r>
              <a:t>讲稿：团队由魏武杰负责前端、周源硕负责数据、潘瑞负责后端。三条主线共同完成一个闭环：界面能讲清楚，数据能被核验，后端守住输出边界。</a:t>
            </a:r>
          </a:p>
          <a:p xmlns:a="http://schemas.openxmlformats.org/drawingml/2006/main">
            <a:r>
              <a:t>说明：按负责人确认，不展示工作、教育或奖项经历。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时间：4:55–5:00（5 秒）</a:t>
            </a:r>
          </a:p>
          <a:p xmlns:a="http://schemas.openxmlformats.org/drawingml/2006/main">
            <a:r>
              <a:t>讲稿：AI 可以犯错，但每一个公司结论都必须允许用户核验。谢谢。</a:t>
            </a:r>
          </a:p>
          <a:p xmlns:a="http://schemas.openxmlformats.org/drawingml/2006/main">
            <a:r>
              <a:t>答辩提示：停留在本页，等待评委提问；需要补充时跳转附录。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附录，不计入 5 分钟主讲。</a:t>
            </a:r>
          </a:p>
          <a:p xmlns:a="http://schemas.openxmlformats.org/drawingml/2006/main">
            <a:r>
              <a:t>现场操作脚本详见 deliverables/roadshow/demo-script.md。</a:t>
            </a:r>
          </a:p>
          <a:p xmlns:a="http://schemas.openxmlformats.org/drawingml/2006/main">
            <a:r>
              <a:t>备用原则：截图优先、录屏次要；断网时只演示已核验的思看科技稳定数据；非思看公司不得降级成思看科技数据。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附录，不计入 5 分钟主讲。</a:t>
            </a:r>
          </a:p>
          <a:p xmlns:a="http://schemas.openxmlformats.org/drawingml/2006/main">
            <a:r>
              <a:t>技术栈：Next.js 16、React 19、TypeScript、Tailwind CSS 4、ECharts；FastAPI、SQLite Evidence、DeepSeek。</a:t>
            </a:r>
          </a:p>
          <a:p xmlns:a="http://schemas.openxmlformats.org/drawingml/2006/main">
            <a:r>
              <a:t>契约：POST /companies/{id}/ask。前端的 snake_case 到 camelCase 转换集中在 src/lib/api.ts。</a:t>
            </a:r>
          </a:p>
          <a:p xmlns:a="http://schemas.openxmlformats.org/drawingml/2006/main">
            <a:r>
              <a:t>项目来源：AGENTS.md；README.md；docs/HANDOFF.md 第 5、6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附录，不计入 5 分钟主讲。</a:t>
            </a:r>
          </a:p>
          <a:p xmlns:a="http://schemas.openxmlformats.org/drawingml/2006/main">
            <a:r>
              <a:t>项目来源：docs/HANDOFF.md 第 7.3、7.4 节；docs/INVESTOR_EVIDENCE_EXPANSION.md 第 3、6 节。</a:t>
            </a:r>
          </a:p>
          <a:p xmlns:a="http://schemas.openxmlformats.org/drawingml/2006/main">
            <a:r>
              <a:t>说明：测试数量衡量工程验证范围，不应包装为回答准确率。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附录，不计入 5 分钟主讲。</a:t>
            </a:r>
          </a:p>
          <a:p xmlns:a="http://schemas.openxmlformats.org/drawingml/2006/main">
            <a:r>
              <a:t>内部来源：</a:t>
            </a:r>
          </a:p>
          <a:p xmlns:a="http://schemas.openxmlformats.org/drawingml/2006/main">
            <a:r>
              <a:t>D:/Codes/XueJunHackathon/AGENTS.md</a:t>
            </a:r>
          </a:p>
          <a:p xmlns:a="http://schemas.openxmlformats.org/drawingml/2006/main">
            <a:r>
              <a:t>D:/Codes/XueJunHackathon/README.md</a:t>
            </a:r>
          </a:p>
          <a:p xmlns:a="http://schemas.openxmlformats.org/drawingml/2006/main">
            <a:r>
              <a:t>D:/Codes/XueJunHackathon/docs/HANDOFF.md</a:t>
            </a:r>
          </a:p>
          <a:p xmlns:a="http://schemas.openxmlformats.org/drawingml/2006/main">
            <a:r>
              <a:t>D:/Codes/XueJunHackathon/docs/INVESTOR_EVIDENCE_EXPANSION.md</a:t>
            </a:r>
          </a:p>
          <a:p xmlns:a="http://schemas.openxmlformats.org/drawingml/2006/main">
            <a:r>
              <a:t>D:/WeChat/xwechat_files/wxid_i1lg7u5t5zsa22_900b/msg/file/2026-10/FACT_BASE.md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外部来源：</a:t>
            </a:r>
          </a:p>
          <a:p xmlns:a="http://schemas.openxmlformats.org/drawingml/2006/main">
            <a:r>
              <a:t>中国证监会第 226 号令：https://www.csrc.gov.cn/csrc/c101953/c7547359/content.shtml</a:t>
            </a:r>
          </a:p>
          <a:p xmlns:a="http://schemas.openxmlformats.org/drawingml/2006/main">
            <a:r>
              <a:t>WPS 黑马校对产品存在性：https://365.wps.cn/content/1948fd9561b4478393707b74101a5d53.html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产品截图：2026-10-03 本地真实页面。</a:t>
            </a:r>
          </a:p>
          <a:p xmlns:a="http://schemas.openxmlformats.org/drawingml/2006/main">
            <a:r>
              <a:t>团队 Logo：用户提供原始文件，蓝色版本由内置图片编辑工具生成。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7daaa4e8a49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479bccc0d4a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9ae26010749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63e30718a40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2268d943b4b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10b6cda324a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B3E0C-CFB2-47B1-8636-401E24600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705E0D-1201-4BC8-9DC6-07AA165C03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8E1033-A767-4F99-A0E8-AE860307B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C7B2E8-7BCF-4EA9-AAD2-F6C874146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54153C-BD6B-41F4-B788-A69CB9213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90EA45-C231-44B6-B9BA-339B747F40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B7A411-47E4-49A3-A8D8-F6E76151E6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6D7067-A4B7-4665-B0BF-02C5A3E441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C1A01F-6534-4B5A-BED8-946446B8A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EBC997-D3E9-4DD1-854C-32EAE22EA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55b823ae24be0" /><Relationship Type="http://schemas.openxmlformats.org/officeDocument/2006/relationships/slideLayout" Target="/ppt/slideLayouts/slideLayout1.xml" Id="Ra2372bd89a3947b3" /><Relationship Type="http://schemas.openxmlformats.org/officeDocument/2006/relationships/slideLayout" Target="/ppt/slideLayouts/slideLayout2.xml" Id="R9ef22a89c13a4fda" /><Relationship Type="http://schemas.openxmlformats.org/officeDocument/2006/relationships/slideLayout" Target="/ppt/slideLayouts/slideLayout3.xml" Id="R03befb78848044ae" /><Relationship Type="http://schemas.openxmlformats.org/officeDocument/2006/relationships/slideLayout" Target="/ppt/slideLayouts/slideLayout4.xml" Id="R737cc76c07d54ddf" /><Relationship Type="http://schemas.openxmlformats.org/officeDocument/2006/relationships/slideLayout" Target="/ppt/slideLayouts/slideLayout5.xml" Id="R5d88e8bbd39e419a" /><Relationship Type="http://schemas.openxmlformats.org/officeDocument/2006/relationships/slideLayout" Target="/ppt/slideLayouts/slideLayout6.xml" Id="R83346d77d8ad49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72bd89a3947b3"/>
    <p:sldLayoutId xmlns:r="http://schemas.openxmlformats.org/officeDocument/2006/relationships" id="2147483650" r:id="R9ef22a89c13a4fda"/>
    <p:sldLayoutId xmlns:r="http://schemas.openxmlformats.org/officeDocument/2006/relationships" id="2147483651" r:id="R03befb78848044ae"/>
    <p:sldLayoutId xmlns:r="http://schemas.openxmlformats.org/officeDocument/2006/relationships" id="2147483652" r:id="R737cc76c07d54ddf"/>
    <p:sldLayoutId xmlns:r="http://schemas.openxmlformats.org/officeDocument/2006/relationships" id="2147483653" r:id="R5d88e8bbd39e419a"/>
    <p:sldLayoutId xmlns:r="http://schemas.openxmlformats.org/officeDocument/2006/relationships" id="2147483654" r:id="R83346d77d8ad49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2378cb888489c" /><Relationship Type="http://schemas.openxmlformats.org/officeDocument/2006/relationships/image" Target="/ppt/media/image.png" Id="R46144db411594e39" /><Relationship Type="http://schemas.openxmlformats.org/officeDocument/2006/relationships/notesSlide" Target="/ppt/notesSlides/notesSlide1.xml" Id="R10c379efcdae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0fc721f33454e" /><Relationship Type="http://schemas.openxmlformats.org/officeDocument/2006/relationships/notesSlide" Target="/ppt/notesSlides/notesSlide2.xml" Id="Rfa6560070c1f4c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19971b1184d4b" /><Relationship Type="http://schemas.openxmlformats.org/officeDocument/2006/relationships/notesSlide" Target="/ppt/notesSlides/notesSlide3.xml" Id="Rcd8b1bceb020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04814e6c744a6" /><Relationship Type="http://schemas.openxmlformats.org/officeDocument/2006/relationships/notesSlide" Target="/ppt/notesSlides/notesSlide4.xml" Id="R5b453e2771e545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8941bc01a74791" /><Relationship Type="http://schemas.openxmlformats.org/officeDocument/2006/relationships/notesSlide" Target="/ppt/notesSlides/notesSlide5.xml" Id="R7b97af00f3a44d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8e5c8d4664a9d" /><Relationship Type="http://schemas.openxmlformats.org/officeDocument/2006/relationships/image" Target="/ppt/media/image2.png" Id="R64397ab7c69945c6" /><Relationship Type="http://schemas.openxmlformats.org/officeDocument/2006/relationships/image" Target="/ppt/media/image3.png" Id="R2e4c37de1ca84e00" /><Relationship Type="http://schemas.openxmlformats.org/officeDocument/2006/relationships/notesSlide" Target="/ppt/notesSlides/notesSlide6.xml" Id="Reec932a692bc45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5af23569a46c8" /><Relationship Type="http://schemas.openxmlformats.org/officeDocument/2006/relationships/notesSlide" Target="/ppt/notesSlides/notesSlide7.xml" Id="Red2af543b5cc44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cf0f233a3461d" /><Relationship Type="http://schemas.openxmlformats.org/officeDocument/2006/relationships/notesSlide" Target="/ppt/notesSlides/notesSlide8.xml" Id="R69f4dc84d3ab4b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3f0c93eca4b73" /><Relationship Type="http://schemas.openxmlformats.org/officeDocument/2006/relationships/image" Target="/ppt/media/image4.png" Id="R4bc6d6aaded542b0" /><Relationship Type="http://schemas.openxmlformats.org/officeDocument/2006/relationships/notesSlide" Target="/ppt/notesSlides/notesSlide9.xml" Id="R2dc269aa452841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e044527b2411d" /><Relationship Type="http://schemas.openxmlformats.org/officeDocument/2006/relationships/notesSlide" Target="/ppt/notesSlides/notesSlide10.xml" Id="R685032e6ff7c49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68ac08686465a" /><Relationship Type="http://schemas.openxmlformats.org/officeDocument/2006/relationships/image" Target="/ppt/media/image5.png" Id="R5163d9ca9bde4bb2" /><Relationship Type="http://schemas.openxmlformats.org/officeDocument/2006/relationships/notesSlide" Target="/ppt/notesSlides/notesSlide11.xml" Id="R58ab6d9aa4704e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c1b9789da483f" /><Relationship Type="http://schemas.openxmlformats.org/officeDocument/2006/relationships/notesSlide" Target="/ppt/notesSlides/notesSlide12.xml" Id="Rd6820f43e48340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78396cf4c441a" /><Relationship Type="http://schemas.openxmlformats.org/officeDocument/2006/relationships/notesSlide" Target="/ppt/notesSlides/notesSlide13.xml" Id="Rbbff53f7fda34c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2047559e440be" /><Relationship Type="http://schemas.openxmlformats.org/officeDocument/2006/relationships/notesSlide" Target="/ppt/notesSlides/notesSlide14.xml" Id="R44bcfa196a6442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F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F4725-A0DD-462E-872C-62582D9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65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AD618-02E6-46D7-AE8C-F266062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X-RAY / 透视·真相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BC895-C063-4E10-941E-3EFF1E8B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2026.10.04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8B6E-19C7-4519-B342-D344D17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84000"/>
              </a:lnSpc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Ask the</a:t>
            </a:r>
          </a:p>
          <a:p xmlns:a="http://schemas.openxmlformats.org/drawingml/2006/main">
            <a:pPr algn="l">
              <a:lnSpc>
                <a:spcPct val="84000"/>
              </a:lnSpc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747A-56EF-48B9-A82C-61F42790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676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6E6F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6E6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6F4"/>
                </a:solidFill>
                <a:latin typeface="Microsoft YaHei"/>
                <a:ea typeface="Microsoft YaHei"/>
                <a:cs typeface="Microsoft YaHei"/>
              </a:rPr>
              <a:t>让普通用户直接向上市公司提问，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6E6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6E6F4"/>
                </a:solidFill>
                <a:latin typeface="Microsoft YaHei"/>
                <a:ea typeface="Microsoft YaHei"/>
                <a:cs typeface="Microsoft YaHei"/>
              </a:rPr>
              <a:t>让每一个结论都能回到公告原文。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1D85F-0AB8-4F27-9F54-0EF6965E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760AD-4906-4A5F-8D3D-4F26388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TEAM FALCONS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EC735-ECDB-4F00-AC9F-E95C8496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rPr>
              <a:t>魏武杰 · 前端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rPr>
              <a:t>周源硕 · 数据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rPr>
              <a:t>潘瑞 · 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3583E-938A-48F6-ADFF-84DABB97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76325"/>
            <a:ext cx="276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D30F9-9FFE-49DE-86E4-54F582A22D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44db411594e39"/>
          <a:stretch xmlns:a="http://schemas.openxmlformats.org/drawingml/2006/main"/>
        </p:blipFill>
        <p:spPr>
          <a:xfrm xmlns:a="http://schemas.openxmlformats.org/drawingml/2006/main">
            <a:off x="8667750" y="1388764"/>
            <a:ext cx="2095500" cy="267077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CA87E-E728-46E6-800C-3ECD75C0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05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B8CF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8CF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CFE3"/>
                </a:solidFill>
                <a:latin typeface="Microsoft YaHei"/>
                <a:ea typeface="Microsoft YaHei"/>
                <a:cs typeface="Microsoft YaHei"/>
              </a:rPr>
              <a:t>杭州银行企业赛道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70BA-210A-4759-B7AC-2364B2DA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91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50" b="1">
                <a:solidFill>
                  <a:srgbClr val="7FA4C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7FA4C6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7FA4C6"/>
                </a:solidFill>
                <a:latin typeface="Consolas"/>
                <a:ea typeface="Consolas"/>
                <a:cs typeface="Consolas"/>
              </a:rPr>
              <a:t>5 MIN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4699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C6795-A6E5-4828-99F1-23E31CD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1304F-B310-4C8A-B7F2-783C674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113F-5BEE-4721-B427-62327382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55719-0AA4-4D6E-B255-4064E1C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公开披露仍然难以核验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65A9F-CDBC-42FB-9129-95AECBB4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信息存在，但处理成本落在用户身上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8A577-4D84-442E-A4DC-7AA68ABC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rPr>
              <a:t>506 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ED4AE-ABB8-42A7-8EBF-6EF5BC8E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思看科技招股说明书（注册稿）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D4DF2-F9A2-42B0-A53F-140F2B2D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AB983-DD18-4766-A80A-9E9446BB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5262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rPr>
              <a:t>269 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90A2B-BA42-447F-B465-6303FAC9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812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思看科技 2025 年半年度报告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366E-C3DD-4132-A05B-C17319C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F9A88-AA0C-4113-B31E-C01CE805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5262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C58B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58B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C58B20"/>
                </a:solidFill>
                <a:latin typeface="Microsoft YaHei"/>
                <a:ea typeface="Microsoft YaHei"/>
                <a:cs typeface="Microsoft YaHei"/>
              </a:rPr>
              <a:t>页码漂移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E5401-D5FB-46E4-9254-F5DFB6C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812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同一段话在不同 PDF 版本中的偏移并不固定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91069-0A4A-46B4-959A-F39FEC0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101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A885A-3762-4519-ACBB-72575237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USER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E7DB9-5E78-4149-BCA9-9A8586E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数字在哪里？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58B6A-5C0F-4481-B76C-6E4273E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属于哪份版本？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6D643-D548-483B-9344-813AEAD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24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结论能否回到原文？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611F4-70FF-4903-A70F-3ACB1E4B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PDF 查看器页码、版本与原文摘录必须同时成立，核验链才完整。</a:t>
            </a:r>
          </a:p>
        </p:txBody>
      </p:sp>
    </p:spTree>
    <p:extLst>
      <p:ext uri="{BB962C8B-B14F-4D97-AF65-F5344CB8AC3E}">
        <p14:creationId xmlns:p14="http://schemas.microsoft.com/office/powerpoint/2010/main" val="925377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F616A-4EDF-4A87-AAF0-1948D40D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4D633-3DF9-40B1-8E3A-ED911BA6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402C2-7639-4849-9046-0DD14354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30635-19B4-444C-9824-98063204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现有工具解决了局部问题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54BA9-5F0A-4002-910C-EB9A8D4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完整闭环需要把回答、结论、原文与页码连接起来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B4C11-B73F-4503-BD32-475653E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A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3D526-DBA5-4DE6-A8C3-28D8EEE8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交易所 / 公告网站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F5BD9-2399-4206-89CE-729A296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提供法定披露原文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A99C4-6ADA-4D99-A6B7-AF06C0D6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288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仍需人工翻页、确认版本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84577-E09D-47FB-B5B4-E543E19D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02F2A-3F89-4C62-9EF6-CE432764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金融终端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5AB98-A6E1-4ABB-BD43-D8D6E2B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擅长结构化数据与指标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D0726-D461-4B5A-8811-8B9484F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289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逐条原文页码并非核心交互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89B6A-6CCE-41F6-A5FE-CC8D69C5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6B3B2-21CA-4914-948A-50B9DA0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通用大模型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68B7B-0EEA-48F6-9310-44CCB46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总结快、交互自然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02036-679F-4312-A2F9-3A51251D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290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缺少强制证据约束时难以审计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6872A-B272-4747-8EC0-531C8B5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8D7A9-7795-4C54-B144-78D533F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文档校对 / 开源工具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73FDA-2C3C-47A2-A482-4A55B695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已覆盖校对、引用或拒答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F0C6F-6B99-4597-AEB0-B82C5928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29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产品边界与证据契约各不相同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82B90-6CBC-45D4-8D50-17534CC0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1010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55"/>
          </a:solidFill>
          <a:ln xmlns:a="http://schemas.openxmlformats.org/drawingml/2006/main" w="0">
            <a:solidFill>
              <a:srgbClr val="0B2F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914E7-2A5A-4650-9387-CDED755C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Ask the Company 聚焦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06887-540F-4B12-BA18-52CEF51F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1497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  →  Claim  →  Evidence  →  PDF 页码</a:t>
            </a:r>
          </a:p>
        </p:txBody>
      </p:sp>
    </p:spTree>
    <p:extLst>
      <p:ext uri="{BB962C8B-B14F-4D97-AF65-F5344CB8AC3E}">
        <p14:creationId xmlns:p14="http://schemas.microsoft.com/office/powerpoint/2010/main" val="1109864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B5F50B-AC26-4299-AC08-B6DABB0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C10AA-4F25-4661-B7A8-B6D8F73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E490A-A711-4B80-97D9-92AE163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9F91E-5A07-4BE6-BF9A-9D1694E9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一条公司结论的生成过程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D0923-9304-4A70-8BE3-B10810F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模型负责组织候选 Evidence，后端负责决定哪些内容可以说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611AB-8F90-4609-9BE8-5B52865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952625" cy="19621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A5071-79E5-4614-86EC-2D5EC01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D261D-6933-4A2F-842B-75E0E723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用户提问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40C0F-175E-4C33-9868-9A87754B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指定公司与问题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EF4BC-D71D-4FC4-BF40-8774B2BC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9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1802E-6D57-4655-8215-AB60EDEE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952625" cy="19621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EF7BD-4E6D-48D2-88AF-4206218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B2BB2-04A2-40DA-A896-97B1C3D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955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公司隔离检索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4694C-D385-4CE9-969B-C51F973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只取当前公司的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121D6-EADB-405C-90BA-95F6ABF9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09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4B1B26-55B6-4C73-B7A7-C7BEEC4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952625" cy="19621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26A5F-3989-4095-BFD3-91E8F05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AA65B-8F25-411B-8A63-952E2EB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955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模型选择 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A82CE-44AA-4431-BD5D-787F0D81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33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不直接生成图表数字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41E35E-7F24-47A8-A86C-0E0C80D8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9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CA032-0E08-4380-B79A-890CB35A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95500"/>
            <a:ext cx="1952625" cy="19621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A5DD1-6AB2-40CA-98F2-11DFFB4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66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31251-86A5-47B1-B3AA-C20562F3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955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机械校验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9EA1D-13FD-43B0-B4EE-931DD2A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检查公司、引用与数字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99F26-824F-47BC-8879-9072D26F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098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7FA9E-447A-4B4B-917B-84688983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952625" cy="19621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B2F55"/>
          </a:solidFill>
          <a:ln xmlns:a="http://schemas.openxmlformats.org/drawingml/2006/main" w="9525">
            <a:solidFill>
              <a:srgbClr val="0B2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3C4D8-D8A6-40B1-87B2-D2A0F0DE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669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956A5-B11A-43EE-B1E7-B63FFE95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955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F450C-EC0D-4110-B7B4-40603A52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rPr>
              <a:t>Answer / Claim / Signal / Chart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844ED-D067-40B8-B63A-BCC38FF6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19625"/>
            <a:ext cx="771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9525">
            <a:solidFill>
              <a:srgbClr val="E3B7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693C6-7CB1-4648-8DA1-F0878B8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101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A94141"/>
                </a:solidFill>
                <a:latin typeface="Consolas"/>
                <a:ea typeface="Consolas"/>
                <a:cs typeface="Consolas"/>
              </a:rPr>
              <a:t>NO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CA7C9-8C6C-43DD-8E3B-D8ECE577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720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根据目前掌握的信息，我无法可靠回答这个问题。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ED325B-05F0-4A2C-824A-DEF3FE0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3397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证据不足时固定拒答，不用模型常识补全公司事实。</a:t>
            </a:r>
          </a:p>
        </p:txBody>
      </p:sp>
    </p:spTree>
    <p:extLst>
      <p:ext uri="{BB962C8B-B14F-4D97-AF65-F5344CB8AC3E}">
        <p14:creationId xmlns:p14="http://schemas.microsoft.com/office/powerpoint/2010/main" val="352762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2677A8-E618-4996-ABA5-6A70E62A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EVIDENCE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C78B2-B968-407C-A373-09D9EF93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7794D-BC8D-499A-906C-CEB990C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20BF4-D51C-46AE-AA22-A24977A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证据契约构成产品边界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223E-A754-4591-8AC1-779107A2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每一道质量门都能机械检查，而不是依赖提示词自觉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F0FF7-7159-4389-9733-1988D79D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11162-E831-4EF3-90E0-53957E3A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公司隔离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B196A-F6A6-432D-8AD8-ACDE022F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Evidence 必须属于当前公司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EDDB1-180A-4473-B62A-E6094D9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DA100-9950-4667-BF01-3E0C37FC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E7E14-A47F-4E24-A16B-8F9DCD2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52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页级定位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5505F-3C35-4D3F-AB15-F2DCE6C5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保留 PDF 查看器页码与官方链接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4689A-047D-4B80-901E-AE3AA04B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CCF28-2FD2-46AF-A0BB-784A80C6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5C5F2-C58F-4B59-A480-11F96BCC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95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连续原文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51999-0BA6-4FF1-ACC3-5DD9ED9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可用摘录必须来自同页连续文本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9FF90-EA34-4B7F-BC04-1A2183B6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9E07E-3645-4730-B4CD-63CA9B78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FF863-2727-4A56-9E47-63D56EE7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主张自证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CCCC1-D335-449F-B6BF-9165D4E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Claim 与 Signal 的数字由自身引用支撑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6DC0E-3FE1-426B-BAC8-3E4B3A66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342E6-43EE-4D1A-961E-320D6C68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4765E-3A4F-432E-A1AC-A5F817E7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81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确定性图表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B0E0C-02AC-4AE6-9685-F00C8A36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006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图表只使用最终通过校验的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88411-DB45-48F9-A89A-5673168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FE59E-603F-4550-A83D-48F6B8F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2D972-6000-44C9-90E5-16432E98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VERSION DRIFT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5672A-4DAC-483A-883C-6C765AC2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同一段披露，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页码偏移并不固定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6EB88-2EDD-461B-B7EE-0AC36502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注册稿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B235B-88AC-4D54-9ADC-182F48E3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322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717DA-54A4-4939-8008-5A1EE02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上市稿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432CAF-8D53-4B8B-8778-62BBAE3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433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329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9F89F-678D-4B59-92D6-26E0EBB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76625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6165C-5DBD-4921-9960-31F165AD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052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8592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592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59295"/>
                </a:solidFill>
                <a:latin typeface="Microsoft YaHei"/>
                <a:ea typeface="Microsoft YaHei"/>
                <a:cs typeface="Microsoft YaHei"/>
              </a:rPr>
              <a:t>另一处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C6DDA1-04E3-48F8-AB1D-5DFE63D1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95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01A1D"/>
                </a:solidFill>
                <a:latin typeface="Consolas"/>
                <a:ea typeface="Consolas"/>
                <a:cs typeface="Consolas"/>
              </a:rPr>
              <a:t>324 ↔ 332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1F516-6F0A-4A8A-A596-8D57245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24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rPr>
              <a:t>版本与页码必须绑定</a:t>
            </a:r>
          </a:p>
        </p:txBody>
      </p:sp>
    </p:spTree>
    <p:extLst>
      <p:ext uri="{BB962C8B-B14F-4D97-AF65-F5344CB8AC3E}">
        <p14:creationId xmlns:p14="http://schemas.microsoft.com/office/powerpoint/2010/main" val="467741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D2663-FA0F-4894-A122-A70EA49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PRODUCT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0FE06-8A58-4965-A3E3-B374536C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E7B56-9DDA-48F0-8486-E676C0B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42F93-D33C-4658-82E1-7616296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真实产品完成回答到原文的闭环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FC109-3A76-4C45-ADA2-C9058BEB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稳定问题展示结构化回答，Evidence 抽屉展示官方 PDF 页码与原文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D86CF-1076-4DD3-B1BC-995452CA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71437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93C5D-2EC2-4253-91EA-47B666410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97ab7c69945c6"/>
          <a:srcRect xmlns:a="http://schemas.openxmlformats.org/drawingml/2006/main" l="18000" t="0" r="0" b="0"/>
          <a:stretch xmlns:a="http://schemas.openxmlformats.org/drawingml/2006/main"/>
        </p:blipFill>
        <p:spPr>
          <a:xfrm xmlns:a="http://schemas.openxmlformats.org/drawingml/2006/main">
            <a:off x="571500" y="1828800"/>
            <a:ext cx="6991350" cy="39909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B788F-B3F4-416F-A779-A04CA559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7909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5FD24-AD98-4458-AA6A-A187A0EA2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c37de1ca84e00"/>
          <a:srcRect xmlns:a="http://schemas.openxmlformats.org/drawingml/2006/main" l="56000" t="0" r="0" b="0"/>
          <a:stretch xmlns:a="http://schemas.openxmlformats.org/drawingml/2006/main"/>
        </p:blipFill>
        <p:spPr>
          <a:xfrm xmlns:a="http://schemas.openxmlformats.org/drawingml/2006/main">
            <a:off x="7981950" y="1828800"/>
            <a:ext cx="3638550" cy="39909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E3569-EA17-4F44-A89F-8204F9A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52625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55"/>
          </a:solidFill>
          <a:ln xmlns:a="http://schemas.openxmlformats.org/drawingml/2006/main" w="0">
            <a:solidFill>
              <a:srgbClr val="0B2F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6A1F6-0B2C-41B9-96A2-01AB959B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028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6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ANSWER +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86EBF-892E-42FA-B3A8-A5C91AF1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52625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C49CC-3CF3-4173-B91F-BDF85F8A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504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6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6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EVIDENCE / P.322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11DF8-F873-4460-A020-7DEBF780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rPr>
              <a:t>安全对照：水果问题固定拒答，Claim / Signal / Chart / Evidence 全部为空。</a:t>
            </a:r>
          </a:p>
        </p:txBody>
      </p:sp>
    </p:spTree>
    <p:extLst>
      <p:ext uri="{BB962C8B-B14F-4D97-AF65-F5344CB8AC3E}">
        <p14:creationId xmlns:p14="http://schemas.microsoft.com/office/powerpoint/2010/main" val="229803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64CF1-344E-43C0-8789-1348D9A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A8D05-8811-4777-B674-CE3D0B3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C8A56-770D-4FCD-8035-E37D673F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0878-18C6-4DD6-BEAE-FD42C8D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质量门留下 2158 条可用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99A5-73A6-425B-AFFF-7150871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数字衡量工程覆盖和证据质量，不代表回答正确率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AEF31-2791-42F8-BB85-90F9CA33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EVIDENCE FUNNEL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4D436-AC41-44FD-9488-A7582E5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55"/>
          </a:solidFill>
          <a:ln xmlns:a="http://schemas.openxmlformats.org/drawingml/2006/main" w="0">
            <a:solidFill>
              <a:srgbClr val="0B2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BE646-F81B-43D1-9C44-5590216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2254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251CE-9833-4FF1-9A04-EBF9460B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33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4D6E6"/>
                </a:solidFill>
                <a:latin typeface="Microsoft YaHei"/>
                <a:ea typeface="Microsoft YaHei"/>
                <a:cs typeface="Microsoft YaHei"/>
              </a:rPr>
              <a:t>Evidence 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5B3AE-C48D-4C1D-9A26-40CC53A8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10325-362C-47AB-83B1-50F2FB46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95625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2158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E5D2F-6F76-4BD6-B938-08D6BA45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71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DF2E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DDF2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F2EE"/>
                </a:solidFill>
                <a:latin typeface="Microsoft YaHei"/>
                <a:ea typeface="Microsoft YaHei"/>
                <a:cs typeface="Microsoft YaHei"/>
              </a:rPr>
              <a:t>可参与回答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C4125-7C34-4EFC-95EB-9ED99913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81000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CF9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B96CD-DDCF-41FE-96F6-40F309E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96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C86EA-CCF2-4797-8E95-B34B3CA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195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453C0-10ED-40D5-A0B1-4229334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71650"/>
            <a:ext cx="35433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8FB70-ED1A-4DA9-A289-7278270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rPr>
              <a:t>4 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C80FA-06A2-48F2-8F35-76F324E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当前公司覆盖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0DF15-4511-490D-A95E-DE84D7F3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64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2F55"/>
                </a:solidFill>
                <a:latin typeface="Microsoft YaHei"/>
                <a:ea typeface="Microsoft YaHei"/>
                <a:cs typeface="Microsoft YaHei"/>
              </a:rPr>
              <a:t>1905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10FF3-81DB-4494-A180-3E46FFE3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05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公开公告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EA609-4578-45A5-807F-9D156122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2845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BBFA3-53F0-4C41-9398-406100B3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按页文本块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FTS 2845 / 2845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CDD59-92EE-4BDF-B2CE-05B90EC8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90900"/>
            <a:ext cx="1381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机械质量门：同页连续原文、公司隔离、数字边界、excluded 过滤。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103ED-0BC7-4C2C-BF50-28295ABE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5512A-509B-4F69-B761-EDD5D89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01A1D"/>
                </a:solidFill>
                <a:latin typeface="Consolas"/>
                <a:ea typeface="Consolas"/>
                <a:cs typeface="Consolas"/>
              </a:rPr>
              <a:t>70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3619F-7541-4E5B-9756-93EC918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72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数据库回归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4722A-3C21-4BC1-9A2D-714F0D1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05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01A1D"/>
                </a:solidFill>
                <a:latin typeface="Consolas"/>
                <a:ea typeface="Consolas"/>
                <a:cs typeface="Consolas"/>
              </a:rPr>
              <a:t>217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3A15E-433F-41A6-88C6-692D90FC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72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后端合成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7286F8-0CEF-49D0-A815-C916A29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01A1D"/>
                </a:solidFill>
                <a:latin typeface="Consolas"/>
                <a:ea typeface="Consolas"/>
                <a:cs typeface="Consolas"/>
              </a:rPr>
              <a:t>101 + 1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EE8FD7-5509-40D1-99EA-01E4DE3D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72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真实库 / 跳过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9B2E3-1056-4B7A-88EF-2DC39377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05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1A1D"/>
                </a:solidFill>
                <a:latin typeface="Consolas"/>
                <a:ea typeface="Consolas"/>
                <a:cs typeface="Consolas"/>
              </a:defRPr>
            </a:pPr>
            <a:r>
              <a:rPr sz="2100" b="1">
                <a:solidFill>
                  <a:srgbClr val="101A1D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2AC93-E6D0-403A-B735-9060027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172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前后端契约</a:t>
            </a:r>
          </a:p>
        </p:txBody>
      </p:sp>
    </p:spTree>
    <p:extLst>
      <p:ext uri="{BB962C8B-B14F-4D97-AF65-F5344CB8AC3E}">
        <p14:creationId xmlns:p14="http://schemas.microsoft.com/office/powerpoint/2010/main" val="440983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B6151-861B-420A-BD60-5BCC6EBA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LANDING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2200B-CD73-4F3A-B907-0CFD3B55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2F974-6428-430D-A060-5904FE89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B8D96-CD8A-491C-A678-FDB92582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商业落地从核验与留痕开始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5A0CB-EF78-41D2-B269-21461D64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优先服务需要为披露事实负责的人，当前仍是下一阶段商业假设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93A37-D685-471F-BBE7-1A0BFAC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HYPOTHESIS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55542-D80E-4C6D-AA82-E12AA231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264F7-951D-448E-950F-97AB5825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IPO 尽调与招股书核验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80236-7AE8-496E-AFC1-6541A05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版本多、页数长、复核责任明确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820C3-1EFF-405B-8813-629B7B8C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按项目订阅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B4AC6-D81A-4074-BFB0-3875A4C3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HYPOTHESIS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328EB-E258-44AE-BD4E-3CA55A0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F3644-EAB3-4EFD-826E-1A3867B8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19350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机构研究与公告核验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6B40B-344C-44CD-A671-E6467F20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研究底稿需要回到原文与页码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F24D8-501B-49E5-8A18-ACA8472C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71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私有化部署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60EDA-05F5-46EF-93E9-3D1B285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57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HYPOTHESIS 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7E9FE-14BE-47EB-8B57-3953B3C8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AAA0D-DEF1-4A28-B07F-6BC30BD0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投关问答与合规审阅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0239C-5E19-425B-817A-8FCDE88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对外回答需要统一口径与留痕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8C8E3-1BA0-4E06-B07D-EE0F485C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71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API / SDK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357FB1-0934-4A44-84E3-F2687C3C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10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CF9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0109E-F9B2-447C-9A4B-98996DC9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当前边界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8EB45-F37F-4884-8D2B-E5CD0C8B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387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尚无收入、客户或签约数据；B2B 场景与收费方式需要继续验证。</a:t>
            </a:r>
          </a:p>
        </p:txBody>
      </p:sp>
    </p:spTree>
    <p:extLst>
      <p:ext uri="{BB962C8B-B14F-4D97-AF65-F5344CB8AC3E}">
        <p14:creationId xmlns:p14="http://schemas.microsoft.com/office/powerpoint/2010/main" val="1943836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D353E-3DED-4DC2-925B-0B16187B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TEAM FALCONS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CE87C-4F8A-44A4-99B6-BEC71CC0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C9A9-8EC1-4F7E-8575-2079D68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FBF62-20C5-4EA1-BE12-2C55C2C9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三条主线在同一个闭环汇合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E2A88-4A26-469E-97AC-2DF8764D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前端把证据讲清楚，数据保证证据可用，后端守住输出边界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81588-13D6-4F81-A37A-ED255C8B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1623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ED72E-DD58-465D-9FD4-B6E35396A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6d6aaded542b0"/>
          <a:stretch xmlns:a="http://schemas.openxmlformats.org/drawingml/2006/main"/>
        </p:blipFill>
        <p:spPr>
          <a:xfrm xmlns:a="http://schemas.openxmlformats.org/drawingml/2006/main">
            <a:off x="990600" y="2104631"/>
            <a:ext cx="2362200" cy="3010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80A3F-553E-48E9-ABCD-15696FA8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0" b="1">
                <a:solidFill>
                  <a:srgbClr val="0B2F5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B2F55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B2F55"/>
                </a:solidFill>
                <a:latin typeface="Consolas"/>
                <a:ea typeface="Consolas"/>
                <a:cs typeface="Consolas"/>
              </a:rPr>
              <a:t>TEAM FALCONS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C8A94-B91D-4044-B61B-35CAED4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926B8-3E26-42D6-9166-9934B5F6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859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魏武杰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33BA9-C761-4C2E-9679-49AFBFC6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8FAC2-11DD-47ED-8900-F7189D4C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把 Answer、Signal、Chart 与 Evidence 变成可核验交互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C6114-D291-4D6D-AC06-3BAAE069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990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B502F-3F0F-492B-888E-C43E7DE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01A7B-A0FF-4E94-ADAC-06F3567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908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周源硕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A21E-B826-4925-9BF9-5E9E40F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28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C3B95-351A-471F-97E4-6F8D2F2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6712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负责公告、页级文本、Evidence 质量与隔离规则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B2B2E-9D07-41BF-9C44-940332B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14825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D858F-216E-4886-B235-3323DD7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C99CB-EE47-4843-9638-1678112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潘瑞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05D6A-C10A-41D7-8856-EB548474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33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9209D0-6903-4FBF-94DD-1FB9663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720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负责检索、模型约束、机械校验与确定性图表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10A68-87A3-4149-94FE-62254F8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9750"/>
            <a:ext cx="695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8883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F5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C207-77FD-4E44-B232-214B52E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10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EC907-A8E5-4B71-B4A0-D4E0A58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8FB5D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FB5D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FB5D5"/>
                </a:solidFill>
                <a:latin typeface="Consolas"/>
                <a:ea typeface="Consolas"/>
                <a:cs typeface="Consolas"/>
              </a:rPr>
              <a:t>已经完成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F19D-648F-4EC0-B4C0-982AC5EE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四家公司 Evidence-first Demo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稳定演示与动态问答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可追溯 Answer、Claim、Signal、Chart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0BBDD-650A-4D2C-A356-64D7C61A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14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8FB5D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FB5D5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8FB5D5"/>
                </a:solidFill>
                <a:latin typeface="Consolas"/>
                <a:ea typeface="Consolas"/>
                <a:cs typeface="Consolas"/>
              </a:rPr>
              <a:t>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473C9-B930-4583-AEC7-77C8607F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525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扩展更多公司与正式评测集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公告增量更新与 Snapshot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权限、部署与机构工作流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CDC42-F8A4-4223-A488-7BC6F397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4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AE16F-1F58-4D09-835C-731D0EF7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A9C7E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A9C7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A9C7E4"/>
                </a:solidFill>
                <a:latin typeface="Microsoft YaHei"/>
                <a:ea typeface="Microsoft YaHei"/>
                <a:cs typeface="Microsoft YaHei"/>
              </a:rPr>
              <a:t>AI 可以犯错，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73388-88B5-4ACC-BADA-D3065AC0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但每一个公司结论都必须允许用户核验。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5FC0C-EB13-4F1C-803E-BCB7B32C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B9DDD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9DDD6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B9DDD6"/>
                </a:solidFill>
                <a:latin typeface="Consolas"/>
                <a:ea typeface="Consolas"/>
                <a:cs typeface="Consolas"/>
              </a:rPr>
              <a:t>ASK THE COMPANY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9227E-A040-4BEA-B3A7-D7564A8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245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Team Falcons · 2026.10.04</a:t>
            </a:r>
          </a:p>
        </p:txBody>
      </p:sp>
    </p:spTree>
    <p:extLst>
      <p:ext uri="{BB962C8B-B14F-4D97-AF65-F5344CB8AC3E}">
        <p14:creationId xmlns:p14="http://schemas.microsoft.com/office/powerpoint/2010/main" val="2016252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D140B-0774-4C23-88E9-B1B9FD40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APPENDIX / DEMO BACKUP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F3AA-ADCC-477A-9DB5-C456BE7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90423-6799-4E19-BD5D-59B11156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CD5C1-A7F5-4004-8D89-65F36E59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现场 Demo 与备用路径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4FE73-E043-4F26-AC7C-3433FC26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主路径用截图讲清闭环，录屏作为次要备份，稳定问答承担断网兜底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422A3-15C0-4D9E-8BB0-4244F5E6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67151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54D31-9833-4AD7-BD58-F91BD9124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3d9ca9bde4bb2"/>
          <a:srcRect xmlns:a="http://schemas.openxmlformats.org/drawingml/2006/main" l="0" t="0" r="0" b="5000"/>
          <a:stretch xmlns:a="http://schemas.openxmlformats.org/drawingml/2006/main"/>
        </p:blipFill>
        <p:spPr>
          <a:xfrm xmlns:a="http://schemas.openxmlformats.org/drawingml/2006/main">
            <a:off x="590550" y="1809750"/>
            <a:ext cx="6562725" cy="3981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A78B6-0387-4AF6-A904-D415986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7E813-FF92-4523-AF6A-4540D838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716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稳定问题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D23BE-0FFA-4CCC-814A-99524CB3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思看科技收入结构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C5E8E-6B45-4A27-98D4-D36F57C5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955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DAE3E-EFC3-492A-B2F8-0161FBF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CA043-26AF-4246-BFFE-D958B31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打开证据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DAF03-74CB-4534-B55E-2B1C60AC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90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EV-STR-001 / P.322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B8EFC-642B-443D-BEDD-F37B47CF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718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7E0D4-E6E7-4F57-B056-9412E43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43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6CA36-9D38-449A-9924-E54B991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242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动态问题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540E0-AF61-411A-8E0B-A86981DB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67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恒生电子审计问题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C2C9C-A72C-4CF8-A979-52B31F7B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481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BA730-22CF-40C6-985D-11675271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9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0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6516A-5DFA-4A62-9EBC-579AD438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005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安全拒答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644FE-E561-46EC-9A44-DB047197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434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水果问题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5A9D6-2525-497F-98B3-99A7EBA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0F2CD-8CE1-44A2-A114-E399AA33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476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9525">
            <a:solidFill>
              <a:srgbClr val="E3B7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2F543-82FD-47F1-8E9E-6645E5DB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94141"/>
                </a:solidFill>
                <a:latin typeface="Microsoft YaHei"/>
                <a:ea typeface="Microsoft YaHei"/>
                <a:cs typeface="Microsoft YaHei"/>
              </a:rPr>
              <a:t>无网络 / DeepSeek 异常：使用截图 + 思看科技稳定 Mock/Fallback。</a:t>
            </a:r>
          </a:p>
        </p:txBody>
      </p:sp>
    </p:spTree>
    <p:extLst>
      <p:ext uri="{BB962C8B-B14F-4D97-AF65-F5344CB8AC3E}">
        <p14:creationId xmlns:p14="http://schemas.microsoft.com/office/powerpoint/2010/main" val="1418161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221DF-3411-44B5-8433-FDCC80266F4A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477375" y="2762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F62D0-34F6-4EB1-B516-4893D5ABB6B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191375" y="2762250"/>
            <a:ext cx="4762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8B20"/>
            </a:solidFill>
            <a:prstDash val="solid"/>
            <a:head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DD2AC8-10F2-4753-B1A7-705D31187F4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91375" y="2238375"/>
            <a:ext cx="476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58B20"/>
            </a:solidFill>
            <a:prstDash val="solid"/>
            <a:head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BE85B-48A1-4999-A2AF-D33E4ADC615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72000" y="2762250"/>
            <a:ext cx="4762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head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06DB9-F191-4771-8C80-AE4DBBD1C6D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4572000" y="2238375"/>
            <a:ext cx="476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766E"/>
            </a:solidFill>
            <a:prstDash val="solid"/>
            <a:head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D8881-8D90-464E-9E06-67C3E7C1D10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2762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53F5E4-D694-4F66-9CAD-F2963325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APPENDIX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581AA-89C5-4F7C-BA18-6F95CBE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8CA1-9E99-4A2E-A612-644C8F07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64E22-657F-4928-BABA-6544C9C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系统架构与信任边界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2A964-EC37-4528-A3DD-18073F2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前端只消费结构化契约，事实可信度由 Evidence 与后端校验共同决定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EAFA3-17FA-4BA9-A32C-92601153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71450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3B65C-9001-44BD-AADC-F06F36E6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NEXT.JS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2B53E-9644-47A7-A108-2EA8FA16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提问与证据交互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31B05-40C2-4E39-9328-3D40B17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71450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75C94-020B-47A5-ACF1-D7A65584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98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POST /ASK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015BB-F5AD-46FF-910D-E4339EC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52725"/>
            <a:ext cx="140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单一 JSON 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092FD-8677-4767-95E8-75CF6478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62125"/>
            <a:ext cx="2143125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F2EE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66B3-F7B1-4DFF-AAD2-B3FD2C1B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3357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稳定路径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FF6F7-99B1-423E-A7BB-AAA76113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76475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思看科技三问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14981-8FAF-4E48-B059-7764DF4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86125"/>
            <a:ext cx="2143125" cy="95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5FF4B-7008-4F6A-A009-E88C010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57575"/>
            <a:ext cx="1838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动态路径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AC5EC-9FFA-4673-B0CE-FDED0F82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00475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Evidence + DeepSeek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E327E-8CF1-4664-9206-3196503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18097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550CA-2B92-4B25-9911-52A86BE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98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机械校验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5B738-DF29-4589-BA51-F0FD4875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752725"/>
            <a:ext cx="150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公司 / 引用 / 数字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B7452A-85B9-4017-AFFF-B4AB303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38375"/>
            <a:ext cx="1619250" cy="1047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2F55"/>
          </a:solidFill>
          <a:ln xmlns:a="http://schemas.openxmlformats.org/drawingml/2006/main" w="9525">
            <a:solidFill>
              <a:srgbClr val="0B2F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3EBB6-205C-456D-A16B-FAB16B4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098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0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A9C7E4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A9C7E4"/>
                </a:solidFill>
                <a:latin typeface="Consolas"/>
                <a:ea typeface="Consolas"/>
                <a:cs typeface="Consolas"/>
              </a:rPr>
              <a:t>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93EC0-A170-4F75-92BE-8FFB7688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752725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Answer / Claim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Signal / Chart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BA26F-4EF1-47A1-BA42-2762E0A6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4429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8"/>
          </a:solidFill>
          <a:ln xmlns:a="http://schemas.openxmlformats.org/drawingml/2006/main" w="9525">
            <a:solidFill>
              <a:srgbClr val="E3B7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A4F7D0-31CD-472A-B777-960482B5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A94141"/>
                </a:solidFill>
                <a:latin typeface="Consolas"/>
                <a:ea typeface="Consolas"/>
                <a:cs typeface="Consolas"/>
              </a:rPr>
              <a:t>校验失败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2F0F8-69ED-432A-9243-12640A3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768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删除无证据内容，必要时固定拒答</a:t>
            </a:r>
          </a:p>
        </p:txBody>
      </p:sp>
    </p:spTree>
    <p:extLst>
      <p:ext uri="{BB962C8B-B14F-4D97-AF65-F5344CB8AC3E}">
        <p14:creationId xmlns:p14="http://schemas.microsoft.com/office/powerpoint/2010/main" val="14998054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AFBC4-A147-4679-A556-14BDC630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APPENDIX / VALIDATION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91F6B-B484-41A8-989D-A5FDA327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78B3F-EAF1-43BC-AE72-AB0D9F37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C8C38-A70F-44B5-9CFF-6D7A0A9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数据与验证明细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A1949-822C-4DD9-AF32-E6032C77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稳定库、证据质量、测试和安全审计的最终验收口径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A3F0C-6E74-40C4-97B0-F13BD225D0ED}"/>
              </a:ext>
            </a:extLst>
          </p:cNvPr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110871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857500"/>
                <a:gridCol w="2381250"/>
                <a:gridCol w="4467225"/>
              </a:tblGrid>
              <a:tr h="39485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0B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0B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最终结果</a:t>
                      </a:r>
                    </a:p>
                  </a:txBody>
                  <a:tcPr marL="91440" marR="91440" marT="45720" marB="45720" anchor="ctr">
                    <a:solidFill>
                      <a:srgbClr val="0B2F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solidFill>
                      <a:srgbClr val="0B2F55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公开公告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四家公司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按页文本块 / FTS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2845 / 2845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索引完整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 cninfo.db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可参与回答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2158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excluded=0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 / rejected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 /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隔离记录保留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数据库回归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 通过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当前稳定库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后端合成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 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结构与校验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真实库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101 通过 / 1 跳过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按设计跳过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前后端契约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snake_case 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485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构建与依赖审计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01A1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npm / pip 0 已知漏洞</a:t>
                      </a:r>
                    </a:p>
                  </a:txBody>
                  <a:tcPr marL="91440" marR="91440" marT="45720" marB="45720" anchor="ctr">
                    <a:solidFill>
                      <a:srgbClr val="FB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470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4D7A6-38AD-48B3-BA59-87B333B0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APPENDIX /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095BB-7A2A-4E3D-9FC2-77953D3A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247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750" b="1">
                <a:solidFill>
                  <a:srgbClr val="859295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859295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4D581-26F1-413E-89F1-C4EC52C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53114-6095-432A-99B7-F688F79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来源与披露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BCA84-881E-49C8-BEB5-E8AADC3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主讲页只使用当前项目事实、官方政策与真实产品截图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87E6D-0AAF-4CC9-B0C8-E4BAD758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PROJECT 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D4F22-B695-4A4C-B845-03B62F9E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667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AGENTS.md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docs/HANDOFF.md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docs/INVESTOR_EVIDENCE_EXPANSION.md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当前代码、稳定库与真实测试结果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24EEC-11A9-4FAE-A01A-B878DC0F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C58B20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C58B20"/>
                </a:solidFill>
                <a:latin typeface="Consolas"/>
                <a:ea typeface="Consolas"/>
                <a:cs typeface="Consolas"/>
              </a:rPr>
              <a:t>OFFICIAL / EXTERNAL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4C162-F518-4638-B523-D3326B21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中国证监会第 226 号令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《上市公司信息披露管理办法》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WPS 黑马校对官方页面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仅引用产品存在与应用场景，不引用效果数字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F2BF2-A5D9-4480-B754-1E3BA6CC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6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D8D43-4A08-48ED-9D33-7AA3C6E4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5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94141"/>
                </a:solidFill>
                <a:latin typeface="Consolas"/>
                <a:ea typeface="Consolas"/>
                <a:cs typeface="Consolas"/>
              </a:defRPr>
            </a:pPr>
            <a:r>
              <a:rPr sz="750" b="1">
                <a:solidFill>
                  <a:srgbClr val="A94141"/>
                </a:solidFill>
                <a:latin typeface="Consolas"/>
                <a:ea typeface="Consolas"/>
                <a:cs typeface="Consolas"/>
              </a:rPr>
              <a:t>DISCLOSURE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F5748-7928-45C7-97B1-074860E4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本产品只做公开披露文件的事实检索与呈现，不提供投资建议、评级、目标价或收益预测。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1D"/>
                </a:solidFill>
                <a:latin typeface="Microsoft YaHei"/>
                <a:ea typeface="Microsoft YaHei"/>
                <a:cs typeface="Microsoft YaHei"/>
              </a:rPr>
              <a:t>商业化场景与收费方式属于下一阶段假设，尚无收入、客户或签约数据。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D92FC-7964-4686-9CBC-533E481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86B"/>
                </a:solidFill>
                <a:latin typeface="Microsoft YaHei"/>
                <a:ea typeface="Microsoft YaHei"/>
                <a:cs typeface="Microsoft YaHei"/>
              </a:rPr>
              <a:t>完整链接与逐页引用见演讲者备注及 sources.md</a:t>
            </a:r>
          </a:p>
        </p:txBody>
      </p:sp>
    </p:spTree>
    <p:extLst>
      <p:ext uri="{BB962C8B-B14F-4D97-AF65-F5344CB8AC3E}">
        <p14:creationId xmlns:p14="http://schemas.microsoft.com/office/powerpoint/2010/main" val="714120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2026-10-03T05:08:06.1180000Z</dcterms:created>
  <dcterms:modified xsi:type="dcterms:W3CDTF">2026-10-03T05:08:06.1180000Z</dcterms:modified>
</coreProperties>
</file>